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c624a32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c624a32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opens peaks at medium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Increase average engagement level per person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e23504ee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e23504ee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c624a32a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c624a32a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opens per user (email)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Increase average email opens to be higher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e23504ee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e23504ee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c624a32a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c624a32a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and reasonable data count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e23504ee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e23504ee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c624a32a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c624a32a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Increase consistency levels to be higher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e23504ee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e23504ee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e23504e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e23504e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e23504ee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e23504ee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d50085a88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d50085a88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more general terms for prizes, I'm not sure if everyone would be appealed to only food and drink vouchers.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.ac.uk/study/welcome/events" TargetMode="External"/><Relationship Id="rId4" Type="http://schemas.openxmlformats.org/officeDocument/2006/relationships/hyperlink" Target="https://www.leicesterunion.com/events/6013/4962/" TargetMode="External"/><Relationship Id="rId11" Type="http://schemas.openxmlformats.org/officeDocument/2006/relationships/hyperlink" Target="https://le.ac.uk/black-history-month/events" TargetMode="External"/><Relationship Id="rId10" Type="http://schemas.openxmlformats.org/officeDocument/2006/relationships/hyperlink" Target="https://le.ac.uk/autumnfest" TargetMode="External"/><Relationship Id="rId9" Type="http://schemas.openxmlformats.org/officeDocument/2006/relationships/hyperlink" Target="https://www.eventbrite.com/e/film-night-the-super-mario-bros-movie-tickets-703189066427?aff=odcleoeventsincollection&amp;keep_tld=1" TargetMode="External"/><Relationship Id="rId5" Type="http://schemas.openxmlformats.org/officeDocument/2006/relationships/hyperlink" Target="https://www.leicesterunion.com/events/6013/4963/" TargetMode="External"/><Relationship Id="rId6" Type="http://schemas.openxmlformats.org/officeDocument/2006/relationships/hyperlink" Target="https://www.leicesterunion.com/ents/event/4981/" TargetMode="External"/><Relationship Id="rId7" Type="http://schemas.openxmlformats.org/officeDocument/2006/relationships/hyperlink" Target="https://www.leicesterunion.com/opportunities/societies/findasociety/" TargetMode="External"/><Relationship Id="rId8" Type="http://schemas.openxmlformats.org/officeDocument/2006/relationships/hyperlink" Target="https://www.leicesterunion.com/ents/event/4978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e.ac.uk/study/welcome/events" TargetMode="External"/><Relationship Id="rId4" Type="http://schemas.openxmlformats.org/officeDocument/2006/relationships/hyperlink" Target="https://r1-app.dotdigital.com/analytics/reports/emailcampaigns/linkclicks/14669330?l=337226420" TargetMode="External"/><Relationship Id="rId5" Type="http://schemas.openxmlformats.org/officeDocument/2006/relationships/hyperlink" Target="https://www.leicesterunion.com/whatson/" TargetMode="External"/><Relationship Id="rId6" Type="http://schemas.openxmlformats.org/officeDocument/2006/relationships/hyperlink" Target="https://im-puzzled.com/" TargetMode="External"/><Relationship Id="rId7" Type="http://schemas.openxmlformats.org/officeDocument/2006/relationships/hyperlink" Target="https://r1-app.dotdigital.com/analytics/reports/emailcampaigns/linkclicks/14669327?l=337061476" TargetMode="External"/><Relationship Id="rId8" Type="http://schemas.openxmlformats.org/officeDocument/2006/relationships/hyperlink" Target="https://www.leicesterunion.com/ents/event/6362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467050" y="717450"/>
            <a:ext cx="8687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 Data Analysis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Stanley Fok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Engagement Levels per Number of People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Medium - 7,260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Average Low - 4,539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Average High - 624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99" y="2811300"/>
            <a:ext cx="2866975" cy="21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6925" y="2811300"/>
            <a:ext cx="2958539" cy="21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4508" y="1152463"/>
            <a:ext cx="3723092" cy="6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9300" y="2108025"/>
            <a:ext cx="3908301" cy="2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Medium - 7,260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Average Low - 4,416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Average High - 457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Email Opens 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Average </a:t>
            </a:r>
            <a:r>
              <a:rPr lang="en"/>
              <a:t>-</a:t>
            </a:r>
            <a:r>
              <a:rPr lang="en"/>
              <a:t> 2.09 == 2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51" y="2422575"/>
            <a:ext cx="3238075" cy="25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6074" y="2422575"/>
            <a:ext cx="3345689" cy="253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Average - 1.987 == 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Engagement Hours by Frequency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Average Highest </a:t>
            </a:r>
            <a:r>
              <a:rPr lang="en"/>
              <a:t>- </a:t>
            </a:r>
            <a:r>
              <a:rPr lang="en"/>
              <a:t>12,175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700" y="2571750"/>
            <a:ext cx="3615221" cy="237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6225" y="2571750"/>
            <a:ext cx="3615226" cy="238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6225" y="1380850"/>
            <a:ext cx="4730405" cy="3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81725" y="2035362"/>
            <a:ext cx="5305200" cy="2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Average Highest - 11,876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Engagement Span by Open Level</a:t>
            </a:r>
            <a:endParaRPr sz="2220"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Median (Average) Engagement Span </a:t>
            </a:r>
            <a:r>
              <a:rPr lang="en" sz="1400"/>
              <a:t>- High Open Level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Consistency - Medium &gt; High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Outliers -  Random Patterns</a:t>
            </a:r>
            <a:endParaRPr sz="1400"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00" y="2943875"/>
            <a:ext cx="3042076" cy="205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076" y="2943875"/>
            <a:ext cx="3067938" cy="20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Median (Average) Engagement Span - High Open Level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Consistency - Medium &gt; High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Outliers -  Random Patterns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175" y="2811050"/>
            <a:ext cx="3112875" cy="219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950" y="2811050"/>
            <a:ext cx="3223423" cy="21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and Least Clicked Link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155" u="sng">
                <a:solidFill>
                  <a:schemeClr val="hlink"/>
                </a:solidFill>
                <a:hlinkClick r:id="rId3"/>
              </a:rPr>
              <a:t>https://le.ac.uk/study/welcome/events</a:t>
            </a:r>
            <a:r>
              <a:rPr lang="en" sz="1155"/>
              <a:t> - 1983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https://www.leicesterunion.com/events/6013/4962/</a:t>
            </a:r>
            <a:r>
              <a:rPr lang="en" sz="1155"/>
              <a:t> - 555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https://www.leicesterunion.com/events/6013/4963/</a:t>
            </a:r>
            <a:r>
              <a:rPr lang="en" sz="1155"/>
              <a:t> - 428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https://www.leicesterunion.com/ents/event/4981/</a:t>
            </a:r>
            <a:r>
              <a:rPr lang="en" sz="1155"/>
              <a:t> - 243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https://www.leicesterunion.com/opportunities/societies/findasociety/</a:t>
            </a:r>
            <a:r>
              <a:rPr lang="en" sz="1155"/>
              <a:t> - 229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 u="sng">
                <a:solidFill>
                  <a:schemeClr val="hlink"/>
                </a:solidFill>
                <a:hlinkClick r:id="rId8"/>
              </a:rPr>
              <a:t>https://www.leicesterunion.com/ents/event/4978/</a:t>
            </a:r>
            <a:r>
              <a:rPr lang="en" sz="1155"/>
              <a:t> - 223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 u="sng">
                <a:solidFill>
                  <a:schemeClr val="hlink"/>
                </a:solidFill>
                <a:hlinkClick r:id="rId9"/>
              </a:rPr>
              <a:t>https://www.eventbrite.com/e/film-night-the-super-mario-bros-movie-tickets-703189066427?aff=odcleoeventsincollection&amp;keep_tld=1</a:t>
            </a:r>
            <a:r>
              <a:rPr lang="en" sz="1155"/>
              <a:t> - 203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 u="sng">
                <a:solidFill>
                  <a:schemeClr val="hlink"/>
                </a:solidFill>
                <a:hlinkClick r:id="rId10"/>
              </a:rPr>
              <a:t>https://le.ac.uk/autumnfest</a:t>
            </a:r>
            <a:r>
              <a:rPr lang="en" sz="1155"/>
              <a:t> - 75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 u="sng">
                <a:solidFill>
                  <a:schemeClr val="hlink"/>
                </a:solidFill>
                <a:hlinkClick r:id="rId11"/>
              </a:rPr>
              <a:t>https://le.ac.uk/black-history-month/events</a:t>
            </a:r>
            <a:r>
              <a:rPr lang="en" sz="1155"/>
              <a:t> -  73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15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https://le.ac.uk/study/welcome/events</a:t>
            </a:r>
            <a:r>
              <a:rPr lang="en"/>
              <a:t> - 2,983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https://r1-app.dotdigital.com/analytics/reports/emailcampaigns/linkclicks/14669330?l=337226420</a:t>
            </a:r>
            <a:r>
              <a:rPr lang="en"/>
              <a:t> - 248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https://www.leicesterunion.com/whatson/</a:t>
            </a:r>
            <a:r>
              <a:rPr lang="en"/>
              <a:t> - 174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https://im-puzzled.com/</a:t>
            </a:r>
            <a:r>
              <a:rPr lang="en"/>
              <a:t> - 123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https://r1-app.dotdigital.com/analytics/reports/emailcampaigns/linkclicks/14669327?l=337061476</a:t>
            </a:r>
            <a:r>
              <a:rPr lang="en"/>
              <a:t> - 118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https://www.leicesterunion.com/ents/event/6362/</a:t>
            </a:r>
            <a:r>
              <a:rPr lang="en"/>
              <a:t> - 118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Redesign email wording, system, and display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Utilise drop-in locations on campus for university surveys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different welcome emails for student situation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